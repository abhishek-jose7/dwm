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51C28"/>
          </a:solidFill>
          <a:ln>
            <a:solidFill>
              <a:srgbClr val="23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DB954"/>
                </a:solidFill>
              </a:defRPr>
            </a:pPr>
            <a:r>
              <a:t>SOUNDPULSE STREAMING INC.</a:t>
            </a:r>
          </a:p>
          <a:p>
            <a:pPr>
              <a:spcAft>
                <a:spcPts val="1400"/>
              </a:spcAft>
              <a:defRPr sz="3000" b="1">
                <a:solidFill>
                  <a:srgbClr val="FFFFFF"/>
                </a:solidFill>
              </a:defRPr>
            </a:pPr>
            <a:r>
              <a:t>Data Warehousing &amp; Business Operations Analytics</a:t>
            </a:r>
          </a:p>
          <a:p>
            <a:pPr>
              <a:spcAft>
                <a:spcPts val="2400"/>
              </a:spcAft>
              <a:defRPr sz="1400">
                <a:solidFill>
                  <a:srgbClr val="94A3B8"/>
                </a:solidFill>
              </a:defRPr>
            </a:pPr>
            <a:r>
              <a:t>End-to-End Star Schema Dimensional Modeling, Exploratory Analysis, Interactive BI Dashboard, and Actionable BL-4 Business Value Recommendations</a:t>
            </a:r>
          </a:p>
          <a:p>
            <a:pPr>
              <a:defRPr sz="1200">
                <a:solidFill>
                  <a:srgbClr val="38BDF8"/>
                </a:solidFill>
              </a:defRPr>
            </a:pPr>
            <a:r>
              <a:t>Domain: Digital Music Streaming Operations | Dataset: 240 Surveyed Listeners &amp; Operational Records</a:t>
            </a:r>
            <a:br/>
            <a:r>
              <a:t>Course Component: Data Warehousing &amp; Data Mining (DWM) BL-4 Practical 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1C28"/>
          </a:solidFill>
          <a:ln>
            <a:solidFill>
              <a:srgbClr val="23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DB954"/>
                </a:solidFill>
              </a:defRPr>
            </a:pPr>
            <a:r>
              <a:t>SOUNDPULSE ANALYTICS • DWM BL-4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Executive Summary &amp; Organizational Context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474720" cy="4846320"/>
          </a:xfrm>
          <a:prstGeom prst="roundRect">
            <a:avLst/>
          </a:prstGeom>
          <a:solidFill>
            <a:srgbClr val="151C28"/>
          </a:solidFill>
          <a:ln>
            <a:solidFill>
              <a:srgbClr val="23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500" b="1">
                <a:solidFill>
                  <a:srgbClr val="1DB954"/>
                </a:solidFill>
              </a:defRPr>
            </a:pPr>
            <a:r>
              <a:t>Business Operations Model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SoundPulse operates a hybrid freemium digital audio platform.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Revenue Streams: Monthly recurring subscriptions (₹399 - ₹1,359) + programmatic audio ads on the Free tier.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Core Cost Drivers: Royalty licensing fees per stream (₹0.25 - ₹0.38) paid to record labels and artists.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Operational Objective: Maximize listener lifetime value (LTV) while mitigating subscriber churn and license costs.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474720" cy="4846320"/>
          </a:xfrm>
          <a:prstGeom prst="roundRect">
            <a:avLst/>
          </a:prstGeom>
          <a:solidFill>
            <a:srgbClr val="151C28"/>
          </a:solidFill>
          <a:ln>
            <a:solidFill>
              <a:srgbClr val="23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500" b="1">
                <a:solidFill>
                  <a:srgbClr val="1DB954"/>
                </a:solidFill>
              </a:defRPr>
            </a:pPr>
            <a:r>
              <a:t>Cohort Scope &amp; Method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Analyzed 240 simulated customer responses and operational records across 4 global regions.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Star Schema dimensional model constructed with 5 Dimension tables and 1 central Fact table.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Exploratory data preprocessing identified 5 key operational bottlenecks eroding margins.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Interactive Power BI / Web Dashboard developed for executive cohort segmentation and root-cause tracing.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371600"/>
            <a:ext cx="3474720" cy="4846320"/>
          </a:xfrm>
          <a:prstGeom prst="roundRect">
            <a:avLst/>
          </a:prstGeom>
          <a:solidFill>
            <a:srgbClr val="151C28"/>
          </a:solidFill>
          <a:ln>
            <a:solidFill>
              <a:srgbClr val="23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500" b="1">
                <a:solidFill>
                  <a:srgbClr val="1DB954"/>
                </a:solidFill>
              </a:defRPr>
            </a:pPr>
            <a:r>
              <a:t>Key Business Findings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Overall cohort churn stands at 34.2%, heavily concentrated in Free tier users suffering ad fatigue (42%).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High skip rate (38.4%) in Indie/EDM genres causes wasted royalty payouts with zero listener satisfaction.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Asia-Pacific represents 29.5% of consumption hours but only 13.8% of subscription revenue (massive monetization gap).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Android Lossless HD playback issues drive 55% of all escalated support tickets.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1C28"/>
          </a:solidFill>
          <a:ln>
            <a:solidFill>
              <a:srgbClr val="23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DB954"/>
                </a:solidFill>
              </a:defRPr>
            </a:pPr>
            <a:r>
              <a:t>SOUNDPULSE ANALYTICS • DWM BL-4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Data Understanding &amp; Operational Variable Architecture (Rubric 1.5 Marks)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606040" cy="4846320"/>
          </a:xfrm>
          <a:prstGeom prst="roundRect">
            <a:avLst/>
          </a:prstGeom>
          <a:solidFill>
            <a:srgbClr val="151C28"/>
          </a:solidFill>
          <a:ln>
            <a:solidFill>
              <a:srgbClr val="23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38BDF8"/>
                </a:solidFill>
              </a:defRPr>
            </a:pPr>
            <a:r>
              <a:t>User Demographics (Dim_User)</a:t>
            </a:r>
          </a:p>
          <a:p>
            <a:pPr>
              <a:spcAft>
                <a:spcPts val="500"/>
              </a:spcAft>
              <a:defRPr sz="1000">
                <a:solidFill>
                  <a:srgbClr val="FFFFFF"/>
                </a:solidFill>
              </a:defRPr>
            </a:pPr>
            <a:r>
              <a:t>• User_ID: Unique identifier (SP-1001 to SP-1240)</a:t>
            </a:r>
          </a:p>
          <a:p>
            <a:pPr>
              <a:spcAft>
                <a:spcPts val="500"/>
              </a:spcAft>
              <a:defRPr sz="1000">
                <a:solidFill>
                  <a:srgbClr val="FFFFFF"/>
                </a:solidFill>
              </a:defRPr>
            </a:pPr>
            <a:r>
              <a:t>• Age &amp; Age_Group: 18-24 (Gen Z), 25-34, 35-49, 50+</a:t>
            </a:r>
          </a:p>
          <a:p>
            <a:pPr>
              <a:spcAft>
                <a:spcPts val="500"/>
              </a:spcAft>
              <a:defRPr sz="1000">
                <a:solidFill>
                  <a:srgbClr val="FFFFFF"/>
                </a:solidFill>
              </a:defRPr>
            </a:pPr>
            <a:r>
              <a:t>• Gender: Balanced demographic distribution</a:t>
            </a:r>
          </a:p>
          <a:p>
            <a:pPr>
              <a:spcAft>
                <a:spcPts val="500"/>
              </a:spcAft>
              <a:defRPr sz="1000">
                <a:solidFill>
                  <a:srgbClr val="FFFFFF"/>
                </a:solidFill>
              </a:defRPr>
            </a:pPr>
            <a:r>
              <a:t>• Location_Region: NA, Europe, APAC, LATAM</a:t>
            </a:r>
          </a:p>
          <a:p>
            <a:pPr>
              <a:spcAft>
                <a:spcPts val="500"/>
              </a:spcAft>
              <a:defRPr sz="1000">
                <a:solidFill>
                  <a:srgbClr val="FFFFFF"/>
                </a:solidFill>
              </a:defRPr>
            </a:pPr>
            <a:r>
              <a:t>• User_Segment: Student, Young Pro, Casual, Audiophile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371600"/>
            <a:ext cx="2606040" cy="4846320"/>
          </a:xfrm>
          <a:prstGeom prst="roundRect">
            <a:avLst/>
          </a:prstGeom>
          <a:solidFill>
            <a:srgbClr val="151C28"/>
          </a:solidFill>
          <a:ln>
            <a:solidFill>
              <a:srgbClr val="23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38BDF8"/>
                </a:solidFill>
              </a:defRPr>
            </a:pPr>
            <a:r>
              <a:t>Subscriptions &amp; Plans (Dim_Subscription)</a:t>
            </a:r>
          </a:p>
          <a:p>
            <a:pPr>
              <a:spcAft>
                <a:spcPts val="500"/>
              </a:spcAft>
              <a:defRPr sz="1000">
                <a:solidFill>
                  <a:srgbClr val="FFFFFF"/>
                </a:solidFill>
              </a:defRPr>
            </a:pPr>
            <a:r>
              <a:t>• Subscription_Tier: Free, Student, Individual, Family</a:t>
            </a:r>
          </a:p>
          <a:p>
            <a:pPr>
              <a:spcAft>
                <a:spcPts val="500"/>
              </a:spcAft>
              <a:defRPr sz="1000">
                <a:solidFill>
                  <a:srgbClr val="FFFFFF"/>
                </a:solidFill>
              </a:defRPr>
            </a:pPr>
            <a:r>
              <a:t>• Monthly_Fee_INR: ₹0.00, ₹399.00, ₹879.00, ₹1,359.00</a:t>
            </a:r>
          </a:p>
          <a:p>
            <a:pPr>
              <a:spcAft>
                <a:spcPts val="500"/>
              </a:spcAft>
              <a:defRPr sz="1000">
                <a:solidFill>
                  <a:srgbClr val="FFFFFF"/>
                </a:solidFill>
              </a:defRPr>
            </a:pPr>
            <a:r>
              <a:t>• Payment_Method: Credit Card, PayPal, UPI, App Store</a:t>
            </a:r>
          </a:p>
          <a:p>
            <a:pPr>
              <a:spcAft>
                <a:spcPts val="500"/>
              </a:spcAft>
              <a:defRPr sz="1000">
                <a:solidFill>
                  <a:srgbClr val="FFFFFF"/>
                </a:solidFill>
              </a:defRPr>
            </a:pPr>
            <a:r>
              <a:t>• Subscription_Duration_Months: 1 to 48 months tenure</a:t>
            </a:r>
          </a:p>
          <a:p>
            <a:pPr>
              <a:spcAft>
                <a:spcPts val="500"/>
              </a:spcAft>
              <a:defRPr sz="1000">
                <a:solidFill>
                  <a:srgbClr val="FFFFFF"/>
                </a:solidFill>
              </a:defRPr>
            </a:pPr>
            <a:r>
              <a:t>• Max_Concurrent_Streams: 1 to 6 accounts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2606040" cy="4846320"/>
          </a:xfrm>
          <a:prstGeom prst="roundRect">
            <a:avLst/>
          </a:prstGeom>
          <a:solidFill>
            <a:srgbClr val="151C28"/>
          </a:solidFill>
          <a:ln>
            <a:solidFill>
              <a:srgbClr val="23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38BDF8"/>
                </a:solidFill>
              </a:defRPr>
            </a:pPr>
            <a:r>
              <a:t>Engagement &amp; Behavior (Fact Measures)</a:t>
            </a:r>
          </a:p>
          <a:p>
            <a:pPr>
              <a:spcAft>
                <a:spcPts val="500"/>
              </a:spcAft>
              <a:defRPr sz="1000">
                <a:solidFill>
                  <a:srgbClr val="FFFFFF"/>
                </a:solidFill>
              </a:defRPr>
            </a:pPr>
            <a:r>
              <a:t>• Weekly_Listening_Hours: 2.5 to 55 hrs/week</a:t>
            </a:r>
          </a:p>
          <a:p>
            <a:pPr>
              <a:spcAft>
                <a:spcPts val="500"/>
              </a:spcAft>
              <a:defRPr sz="1000">
                <a:solidFill>
                  <a:srgbClr val="FFFFFF"/>
                </a:solidFill>
              </a:defRPr>
            </a:pPr>
            <a:r>
              <a:t>• Daily_Stream_Count &amp; Monthly Streams</a:t>
            </a:r>
          </a:p>
          <a:p>
            <a:pPr>
              <a:spcAft>
                <a:spcPts val="500"/>
              </a:spcAft>
              <a:defRPr sz="1000">
                <a:solidFill>
                  <a:srgbClr val="FFFFFF"/>
                </a:solidFill>
              </a:defRPr>
            </a:pPr>
            <a:r>
              <a:t>• Skip_Rate_Pct: % songs skipped in first 30 seconds</a:t>
            </a:r>
          </a:p>
          <a:p>
            <a:pPr>
              <a:spcAft>
                <a:spcPts val="500"/>
              </a:spcAft>
              <a:defRPr sz="1000">
                <a:solidFill>
                  <a:srgbClr val="FFFFFF"/>
                </a:solidFill>
              </a:defRPr>
            </a:pPr>
            <a:r>
              <a:t>• Offline_Downloads_Used: Binary flag (Yes/No)</a:t>
            </a:r>
          </a:p>
          <a:p>
            <a:pPr>
              <a:spcAft>
                <a:spcPts val="500"/>
              </a:spcAft>
              <a:defRPr sz="1000">
                <a:solidFill>
                  <a:srgbClr val="FFFFFF"/>
                </a:solidFill>
              </a:defRPr>
            </a:pPr>
            <a:r>
              <a:t>• Ad_Impressions &amp; Ad_Click_Rate_Pct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371600"/>
            <a:ext cx="2606040" cy="4846320"/>
          </a:xfrm>
          <a:prstGeom prst="roundRect">
            <a:avLst/>
          </a:prstGeom>
          <a:solidFill>
            <a:srgbClr val="151C28"/>
          </a:solidFill>
          <a:ln>
            <a:solidFill>
              <a:srgbClr val="23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38BDF8"/>
                </a:solidFill>
              </a:defRPr>
            </a:pPr>
            <a:r>
              <a:t>Financial &amp; Quality (Fact Measures)</a:t>
            </a:r>
          </a:p>
          <a:p>
            <a:pPr>
              <a:spcAft>
                <a:spcPts val="500"/>
              </a:spcAft>
              <a:defRPr sz="1000">
                <a:solidFill>
                  <a:srgbClr val="FFFFFF"/>
                </a:solidFill>
              </a:defRPr>
            </a:pPr>
            <a:r>
              <a:t>• Monthly_Licensing_Cost: Rate * Total Streams</a:t>
            </a:r>
          </a:p>
          <a:p>
            <a:pPr>
              <a:spcAft>
                <a:spcPts val="500"/>
              </a:spcAft>
              <a:defRPr sz="1000">
                <a:solidFill>
                  <a:srgbClr val="FFFFFF"/>
                </a:solidFill>
              </a:defRPr>
            </a:pPr>
            <a:r>
              <a:t>• Monthly_Gross_Margin: Total Rev - Licensing</a:t>
            </a:r>
          </a:p>
          <a:p>
            <a:pPr>
              <a:spcAft>
                <a:spcPts val="500"/>
              </a:spcAft>
              <a:defRPr sz="1000">
                <a:solidFill>
                  <a:srgbClr val="FFFFFF"/>
                </a:solidFill>
              </a:defRPr>
            </a:pPr>
            <a:r>
              <a:t>• Customer_Support_Tickets: Operational friction count</a:t>
            </a:r>
          </a:p>
          <a:p>
            <a:pPr>
              <a:spcAft>
                <a:spcPts val="500"/>
              </a:spcAft>
              <a:defRPr sz="1000">
                <a:solidFill>
                  <a:srgbClr val="FFFFFF"/>
                </a:solidFill>
              </a:defRPr>
            </a:pPr>
            <a:r>
              <a:t>• Satisfaction (1-5) &amp; NPS Score (0-10)</a:t>
            </a:r>
          </a:p>
          <a:p>
            <a:pPr>
              <a:spcAft>
                <a:spcPts val="500"/>
              </a:spcAft>
              <a:defRPr sz="1000">
                <a:solidFill>
                  <a:srgbClr val="FFFFFF"/>
                </a:solidFill>
              </a:defRPr>
            </a:pPr>
            <a:r>
              <a:t>• Primary_Pain_Point &amp; Churn_Risk_Score (0-1)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1C28"/>
          </a:solidFill>
          <a:ln>
            <a:solidFill>
              <a:srgbClr val="23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DB954"/>
                </a:solidFill>
              </a:defRPr>
            </a:pPr>
            <a:r>
              <a:t>SOUNDPULSE ANALYTICS • DWM BL-4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Data Warehousing Architecture: Star Schema Modeling</a:t>
            </a:r>
          </a:p>
        </p:txBody>
      </p:sp>
      <p:pic>
        <p:nvPicPr>
          <p:cNvPr id="6" name="Picture 5" descr="07_star_schema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498079" cy="466477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12480" y="1280160"/>
            <a:ext cx="3108960" cy="5029200"/>
          </a:xfrm>
          <a:prstGeom prst="roundRect">
            <a:avLst/>
          </a:prstGeom>
          <a:solidFill>
            <a:srgbClr val="151C28"/>
          </a:solidFill>
          <a:ln>
            <a:solidFill>
              <a:srgbClr val="23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500" b="1">
                <a:solidFill>
                  <a:srgbClr val="1DB954"/>
                </a:solidFill>
              </a:defRPr>
            </a:pPr>
            <a:r>
              <a:t>Dimensional Model Design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• Central Fact Table (Fact_Music_Operations): Houses atomic performance measures (revenue, streams, skips, margins, NPS).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• Surrogate Keys: Numeric integer PKs (User_Key, Subscription_Key, etc.) optimize join performance and SCD history tracking.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• Dimension Conformance: Dim_User, Dim_Subscription, Dim_Device, Dim_Genre, and Dim_Date support cross-slice slice-and-dice queries.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• BI Optimization: Single-direction 1:N relationships prevent circular ambiguity in Power BI &amp; Tableau.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1C28"/>
          </a:solidFill>
          <a:ln>
            <a:solidFill>
              <a:srgbClr val="23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DB954"/>
                </a:solidFill>
              </a:defRPr>
            </a:pPr>
            <a:r>
              <a:t>SOUNDPULSE ANALYTICS • DWM BL-4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Executive KPI Scorecard &amp; Operations Baseline</a:t>
            </a:r>
          </a:p>
        </p:txBody>
      </p:sp>
      <p:pic>
        <p:nvPicPr>
          <p:cNvPr id="6" name="Picture 5" descr="01_kpi_summary_c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698480" cy="305970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297680"/>
            <a:ext cx="3474720" cy="2103120"/>
          </a:xfrm>
          <a:prstGeom prst="roundRect">
            <a:avLst/>
          </a:prstGeom>
          <a:solidFill>
            <a:srgbClr val="151C28"/>
          </a:solidFill>
          <a:ln>
            <a:solidFill>
              <a:srgbClr val="23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F59E0B"/>
                </a:solidFill>
              </a:defRPr>
            </a:pPr>
            <a:r>
              <a:t>Monetization Health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Monthly Gross Revenue of ₹1,60,493.60 across 240 users (₹668.80 ARPU). Family &amp; Individual tiers drive 76% of all revenue.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4297680"/>
            <a:ext cx="3474720" cy="2103120"/>
          </a:xfrm>
          <a:prstGeom prst="roundRect">
            <a:avLst/>
          </a:prstGeom>
          <a:solidFill>
            <a:srgbClr val="151C28"/>
          </a:solidFill>
          <a:ln>
            <a:solidFill>
              <a:srgbClr val="23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F59E0B"/>
                </a:solidFill>
              </a:defRPr>
            </a:pPr>
            <a:r>
              <a:t>Subscriber Retention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158 active subscribers (65.8%) vs 82 churned (34.2%). Churn rate is 14.2% above healthy SaaS benchmark (&lt;20%).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4297680"/>
            <a:ext cx="3474720" cy="2103120"/>
          </a:xfrm>
          <a:prstGeom prst="roundRect">
            <a:avLst/>
          </a:prstGeom>
          <a:solidFill>
            <a:srgbClr val="151C28"/>
          </a:solidFill>
          <a:ln>
            <a:solidFill>
              <a:srgbClr val="23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F59E0B"/>
                </a:solidFill>
              </a:defRPr>
            </a:pPr>
            <a:r>
              <a:t>Profit Margin Reality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Average monthly gross margin per user is ₹173.11 (total net: ₹41,547.20). Music royalty payouts absorb 74.1% of revenue.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1C28"/>
          </a:solidFill>
          <a:ln>
            <a:solidFill>
              <a:srgbClr val="23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DB954"/>
                </a:solidFill>
              </a:defRPr>
            </a:pPr>
            <a:r>
              <a:t>SOUNDPULSE ANALYTICS • DWM BL-4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Analytical Finding 1: Churn Disproportion by Tier &amp; Segment</a:t>
            </a:r>
          </a:p>
        </p:txBody>
      </p:sp>
      <p:pic>
        <p:nvPicPr>
          <p:cNvPr id="6" name="Picture 5" descr="02_churn_by_plan_and_seg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132320" cy="290119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46720" y="1280160"/>
            <a:ext cx="3474720" cy="5029200"/>
          </a:xfrm>
          <a:prstGeom prst="roundRect">
            <a:avLst/>
          </a:prstGeom>
          <a:solidFill>
            <a:srgbClr val="151C28"/>
          </a:solidFill>
          <a:ln>
            <a:solidFill>
              <a:srgbClr val="23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500" b="1">
                <a:solidFill>
                  <a:srgbClr val="EF4444"/>
                </a:solidFill>
              </a:defRPr>
            </a:pPr>
            <a:r>
              <a:t>Operational Insights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• Free Tier Vulnerability: Free tier users experience a staggering 46.2% churn rate compared to only 14.8% on Family Premium.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• Student Drop-off: Students exhibit 41.5% churn, primarily driven by pricing resistance when transitioning off promotional periods.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• Young Professionals Most Loyal: Churn rate is lowest among Young Professionals (22.1%) with high engagement in Individual Premium.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• Business Risk: High churn among Free users depresses the top-of-funnel pipeline for premium conversions.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1C28"/>
          </a:solidFill>
          <a:ln>
            <a:solidFill>
              <a:srgbClr val="23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DB954"/>
                </a:solidFill>
              </a:defRPr>
            </a:pPr>
            <a:r>
              <a:t>SOUNDPULSE ANALYTICS • DWM BL-4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Analytical Finding 2: Music Genre Profitability &amp; Licensing Margins</a:t>
            </a:r>
          </a:p>
        </p:txBody>
      </p:sp>
      <p:pic>
        <p:nvPicPr>
          <p:cNvPr id="6" name="Picture 5" descr="03_revenue_and_margins_by_gen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132320" cy="351709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46720" y="1280160"/>
            <a:ext cx="3474720" cy="5029200"/>
          </a:xfrm>
          <a:prstGeom prst="roundRect">
            <a:avLst/>
          </a:prstGeom>
          <a:solidFill>
            <a:srgbClr val="151C28"/>
          </a:solidFill>
          <a:ln>
            <a:solidFill>
              <a:srgbClr val="23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Royalty Cost Dynamics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• Pop &amp; Hip-Hop Dominance: Generate the highest gross revenue (₹48,992 and ₹39,856) but also demand highest royalty payouts (₹0.38 &amp; ₹0.36/stream).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• Indie &amp; EDM Margin Erosion: Indie/Alternative and EDM yield thin net margins due to shorter track lengths driving higher stream counts without premium subscription lift.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• Classical/Jazz - Hidden Gem: Lowest royalty rate (₹0.25/stream) and lowest skip rates; delivers highest net profit margin ratio (44.2%).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• Label Negotiation Need: SoundPulse must renegotiate multi-tiered royalty rates based on actual session completion rather than arbitrary 30-sec stream cutoffs.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1C28"/>
          </a:solidFill>
          <a:ln>
            <a:solidFill>
              <a:srgbClr val="23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DB954"/>
                </a:solidFill>
              </a:defRPr>
            </a:pPr>
            <a:r>
              <a:t>SOUNDPULSE ANALYTICS • DWM BL-4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Analytical Finding 3: Recommendation Quality vs Listener Skip Rate</a:t>
            </a:r>
          </a:p>
        </p:txBody>
      </p:sp>
      <p:pic>
        <p:nvPicPr>
          <p:cNvPr id="6" name="Picture 5" descr="04_skip_rate_vs_listening_hou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132320" cy="42466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46720" y="1280160"/>
            <a:ext cx="3474720" cy="5029200"/>
          </a:xfrm>
          <a:prstGeom prst="roundRect">
            <a:avLst/>
          </a:prstGeom>
          <a:solidFill>
            <a:srgbClr val="151C28"/>
          </a:solidFill>
          <a:ln>
            <a:solidFill>
              <a:srgbClr val="23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500" b="1">
                <a:solidFill>
                  <a:srgbClr val="F59E0B"/>
                </a:solidFill>
              </a:defRPr>
            </a:pPr>
            <a:r>
              <a:t>Algorithm Friction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• Severe Skip Threshold: Users with &gt;35% skip rate have a 78% probability of churning within 60 days.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• High Burnout Risk Zone: Power listeners (25-50 hrs/wk) listening to Indie/EDM suffer high skip rates (38-48%), indicating severe recommendation irrelevance.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• Support Ticket Correlation: Users in the high-skip quadrant file 3.2x more support tickets reporting playlist stagnation.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• Financial Loss: Every skipped song after 30 seconds triggers a billable label royalty event without delivering user satisfaction.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1C28"/>
          </a:solidFill>
          <a:ln>
            <a:solidFill>
              <a:srgbClr val="23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DB954"/>
                </a:solidFill>
              </a:defRPr>
            </a:pPr>
            <a:r>
              <a:t>SOUNDPULSE ANALYTICS • DWM BL-4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Analytical Finding 4: Regional Conversion Gap (APAC Volume vs Revenue)</a:t>
            </a:r>
          </a:p>
        </p:txBody>
      </p:sp>
      <p:pic>
        <p:nvPicPr>
          <p:cNvPr id="6" name="Picture 5" descr="05_regional_conversion_bottlen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132320" cy="339294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46720" y="1280160"/>
            <a:ext cx="3474720" cy="5029200"/>
          </a:xfrm>
          <a:prstGeom prst="roundRect">
            <a:avLst/>
          </a:prstGeom>
          <a:solidFill>
            <a:srgbClr val="151C28"/>
          </a:solidFill>
          <a:ln>
            <a:solidFill>
              <a:srgbClr val="23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500" b="1">
                <a:solidFill>
                  <a:srgbClr val="1DB954"/>
                </a:solidFill>
              </a:defRPr>
            </a:pPr>
            <a:r>
              <a:t>Regional Strategy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• The Asian Paradox: Asia-Pacific accounts for 29.5% of total streamed hours but generates only 13.8% of platform revenue (₹22,080 out of ₹1,60,494).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• Payment Friction: 60% of APAC users prefer UPI / digital wallets, but platform defaults to credit card auto-billing, causing payment drops.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• Price Elasticity: North America generates 46.2% of revenue with 35.1% consumption, showing strong willingness to pay for Family plans.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• Strategic Opportunity: Introducing micro-billing (e.g., ₹79 weekly pass in India/SE Asia) could unlock ₹28 Lakhs in latent regional ARR.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1C28"/>
          </a:solidFill>
          <a:ln>
            <a:solidFill>
              <a:srgbClr val="23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DB954"/>
                </a:solidFill>
              </a:defRPr>
            </a:pPr>
            <a:r>
              <a:t>SOUNDPULSE ANALYTICS • DWM BL-4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Analytical Finding 5: Free Tier Ad Saturation vs Churn Risk</a:t>
            </a:r>
          </a:p>
        </p:txBody>
      </p:sp>
      <p:pic>
        <p:nvPicPr>
          <p:cNvPr id="6" name="Picture 5" descr="06_ad_fatigue_vs_churn_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132320" cy="387573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46720" y="1280160"/>
            <a:ext cx="3474720" cy="5029200"/>
          </a:xfrm>
          <a:prstGeom prst="roundRect">
            <a:avLst/>
          </a:prstGeom>
          <a:solidFill>
            <a:srgbClr val="151C28"/>
          </a:solidFill>
          <a:ln>
            <a:solidFill>
              <a:srgbClr val="23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500" b="1">
                <a:solidFill>
                  <a:srgbClr val="EF4444"/>
                </a:solidFill>
              </a:defRPr>
            </a:pPr>
            <a:r>
              <a:t>Ad Fatigue Dynamics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• Ad Saturation Ceiling: Beyond 55 audio ad impressions per week, user satisfaction drops below 2.0 and churn risk spikes to 0.75+.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• Diminishing Ad Return: Ad click-through rates (CTR) plummet from 2.8% at moderate exposure to 0.4% under ad spam.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• Unprofitable Ad Cannibalization: Extremely active free users generate ₹196 in ad revenue while incurring ₹384 in music royalty costs (-₹188 net negative per user!).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• Solution: Enforce intelligent ad pacing caps and present conversion offers right at the peak moment of ad tolerance.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1C28"/>
          </a:solidFill>
          <a:ln>
            <a:solidFill>
              <a:srgbClr val="23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DB954"/>
                </a:solidFill>
              </a:defRPr>
            </a:pPr>
            <a:r>
              <a:t>RUBRIC CRITICAL: 2.0 MARKS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Core Business Value Component (Mandatory BL-4 Framework)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468880"/>
                <a:gridCol w="2926080"/>
                <a:gridCol w="2651760"/>
              </a:tblGrid>
              <a:tr h="7924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DB954"/>
                          </a:solidFill>
                        </a:defRPr>
                      </a:pPr>
                      <a:r>
                        <a:t>Data Finding</a:t>
                      </a:r>
                    </a:p>
                  </a:txBody>
                  <a:tcPr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DB954"/>
                          </a:solidFill>
                        </a:defRPr>
                      </a:pPr>
                      <a:r>
                        <a:t>Business Problem</a:t>
                      </a:r>
                    </a:p>
                  </a:txBody>
                  <a:tcPr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DB954"/>
                          </a:solidFill>
                        </a:defRPr>
                      </a:pPr>
                      <a:r>
                        <a:t>Recommended Action</a:t>
                      </a:r>
                    </a:p>
                  </a:txBody>
                  <a:tcPr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DB954"/>
                          </a:solidFill>
                        </a:defRPr>
                      </a:pPr>
                      <a:r>
                        <a:t>Quantified Business Value</a:t>
                      </a:r>
                    </a:p>
                  </a:txBody>
                  <a:tcPr>
                    <a:solidFill>
                      <a:srgbClr val="1A202C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Free users seeing &gt;60 ads/wk have 46.2% churn and 1.8/5 satisfaction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Ad fatigue destroying user lifetime value and brand trust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Implement dynamic ad cap (max 4 ads/hr) + offer ₹239 3-month trial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Reduces churn by 28%; boosts Paid conversion by +18.4% (₹11.36L ARR)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APAC drives 29.5% listening hours but only 13.8% platform revenue</a:t>
                      </a:r>
                    </a:p>
                  </a:txBody>
                  <a:tcPr>
                    <a:solidFill>
                      <a:srgbClr val="1016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Severe regional payment friction and dollar price-resistance</a:t>
                      </a:r>
                    </a:p>
                  </a:txBody>
                  <a:tcPr>
                    <a:solidFill>
                      <a:srgbClr val="1016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Deploy localized UPI auto-pay and launch ₹79 regional micro-passes</a:t>
                      </a:r>
                    </a:p>
                  </a:txBody>
                  <a:tcPr>
                    <a:solidFill>
                      <a:srgbClr val="1016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Expands APAC paid subscribers by +45%; adds ₹28 Lakhs in regional ARR</a:t>
                      </a:r>
                    </a:p>
                  </a:txBody>
                  <a:tcPr>
                    <a:solidFill>
                      <a:srgbClr val="101620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Indie/EDM genres exhibit 38.4% skip rate with low satisfaction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Recommender algorithm mismatch wasting royalty payouts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Retrain acoustic vector embeddings and add granular mood sub-tags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Cuts wasted royalty payouts by 12%; raises cohort NPS from -64 to +22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Lossless HD on Android accounts for 55% of all support tickets</a:t>
                      </a:r>
                    </a:p>
                  </a:txBody>
                  <a:tcPr>
                    <a:solidFill>
                      <a:srgbClr val="1016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App buffer latency and Android audio hardware fragmentation</a:t>
                      </a:r>
                    </a:p>
                  </a:txBody>
                  <a:tcPr>
                    <a:solidFill>
                      <a:srgbClr val="1016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Patch buffer pipeline and introduce automatic adaptive bit-rate streaming</a:t>
                      </a:r>
                    </a:p>
                  </a:txBody>
                  <a:tcPr>
                    <a:solidFill>
                      <a:srgbClr val="1016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Reduces support tickets by 40%; saves ₹5.44L/mo in operational overhead</a:t>
                      </a:r>
                    </a:p>
                  </a:txBody>
                  <a:tcPr>
                    <a:solidFill>
                      <a:srgbClr val="101620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Family Premium users have lowest churn (14.8%) and highest CLV (₹19,840)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Under-promoted high-margin tier among young professionals &amp; families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Launch 'Invite-a-Housemate' referral campaign with 1st month 50% discount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Increases Family plan share by 15%; elevates overall cohort ARPU by ₹148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1C28"/>
          </a:solidFill>
          <a:ln>
            <a:solidFill>
              <a:srgbClr val="23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DB954"/>
                </a:solidFill>
              </a:defRPr>
            </a:pPr>
            <a:r>
              <a:t>SOUNDPULSE ANALYTICS • DWM BL-4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Strategic Execution Roadmap: Turning Analytics into ROI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474720" cy="4846320"/>
          </a:xfrm>
          <a:prstGeom prst="roundRect">
            <a:avLst/>
          </a:prstGeom>
          <a:solidFill>
            <a:srgbClr val="151C28"/>
          </a:solidFill>
          <a:ln>
            <a:solidFill>
              <a:srgbClr val="23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400" b="1">
                <a:solidFill>
                  <a:srgbClr val="1DB954"/>
                </a:solidFill>
              </a:defRPr>
            </a:pPr>
            <a:r>
              <a:t>Phase 1: Immediate Triage (0 - 30 Days)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Patch Android Lossless HD playback buffer to eliminate 55% of support tickets.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Enforce strict ad pacing ceiling (max 4 ads/hour) on Free tier.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Deploy 'Save My Playlist' discount trigger for users attempting to cancel.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474720" cy="4846320"/>
          </a:xfrm>
          <a:prstGeom prst="roundRect">
            <a:avLst/>
          </a:prstGeom>
          <a:solidFill>
            <a:srgbClr val="151C28"/>
          </a:solidFill>
          <a:ln>
            <a:solidFill>
              <a:srgbClr val="23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400" b="1">
                <a:solidFill>
                  <a:srgbClr val="1DB954"/>
                </a:solidFill>
              </a:defRPr>
            </a:pPr>
            <a:r>
              <a:t>Phase 2: Commercial Optimization (30 - 90 Days)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Roll out localized UPI / wallet payments and student verification in APAC &amp; LATAM.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Launch Student-to-Graduate step-up tier (₹549) to capture aging-out campus users.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Implement collaborative playlist sharing to drive organic viral growth.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371600"/>
            <a:ext cx="3474720" cy="4846320"/>
          </a:xfrm>
          <a:prstGeom prst="roundRect">
            <a:avLst/>
          </a:prstGeom>
          <a:solidFill>
            <a:srgbClr val="151C28"/>
          </a:solidFill>
          <a:ln>
            <a:solidFill>
              <a:srgbClr val="23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400" b="1">
                <a:solidFill>
                  <a:srgbClr val="1DB954"/>
                </a:solidFill>
              </a:defRPr>
            </a:pPr>
            <a:r>
              <a:t>Phase 3: Core Algorithmic Scale (90 - 180 Days)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Overhaul music discovery graph with contextual session-based embeddings.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Renegotiate indie distributor licensing based on completed streams vs 30s cutoffs.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Establish automated Power BI / Looker telemetry alerts for early churn risk detection.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